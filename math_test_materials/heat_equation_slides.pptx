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Heat Equation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Lecture 4 · Partial differential equations</a:t>
            </a:r>
          </a:p>
          <a:p>
            <a:r>
              <a:t>Tick 'This lesson contains equations / formulas' when uploading.</a:t>
            </a:r>
          </a:p>
        </p:txBody>
      </p:sp>
    </p:spTree>
  </p:cSld>
  <p:clrMapOvr>
    <a:masterClrMapping/>
  </p:clrMapOvr>
</p:sld>
</file>

<file path=ppt/slides/slide2.xml><?xml version="1.0" encoding="utf-8"?>
<p:sld xmlns:m="http://schemas.openxmlformats.org/officeDocument/2006/math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Fourier's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Heat flux is proportional to the temperature gradient.</a:t>
            </a:r>
          </a:p>
          <a:p>
            <a:pPr>
              <a:defRPr sz="2000"/>
            </a:pPr>
            <a:r>
              <a:t>This is the constitutive relation used in the derivation.</a:t>
            </a:r>
          </a:p>
          <a:p>
            <a:pPr>
              <a:defRPr sz="2000"/>
            </a:pPr>
            <a:r>
              <a:t>The minus sign means heat flows from hot to cold.</a:t>
            </a:r>
          </a:p>
          <m:oMathPara>
            <m:oMathParaPr/>
            <m:oMath>
              <m:r>
                <m:t xml:space="preserve">q = -k ∇ T</m:t>
              </m:r>
            </m:oMath>
          </m:oMathPara>
        </p:txBody>
      </p:sp>
    </p:spTree>
  </p:cSld>
  <p:clrMapOvr>
    <a:masterClrMapping/>
  </p:clrMapOvr>
</p:sld>
</file>

<file path=ppt/slides/slide3.xml><?xml version="1.0" encoding="utf-8"?>
<p:sld xmlns:m="http://schemas.openxmlformats.org/officeDocument/2006/math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heat equation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Combining Fourier's law with conservation of energy gives the heat equation.</a:t>
            </a:r>
          </a:p>
          <a:p>
            <a:pPr>
              <a:defRPr sz="2000"/>
            </a:pPr>
            <a:r>
              <a:t>u is temperature, t is time, and α is thermal diffusivity.</a:t>
            </a:r>
          </a:p>
          <a:p>
            <a:pPr>
              <a:defRPr sz="2000"/>
            </a:pPr>
            <a:r>
              <a:t>This is the educator formula that must be copied exactly.</a:t>
            </a:r>
          </a:p>
          <m:oMathPara>
            <m:oMathParaPr/>
            <m:oMath>
              <m:f>
                <m:num>
                  <m:r>
                    <m:t xml:space="preserve">∂ u</m:t>
                  </m:r>
                </m:num>
                <m:den>
                  <m:r>
                    <m:t xml:space="preserve">∂ t</m:t>
                  </m:r>
                </m:den>
              </m:f>
              <m:r>
                <m:t xml:space="preserve"> = α </m:t>
              </m:r>
              <m:sSup>
                <m:e>
                  <m:r>
                    <m:t xml:space="preserve">∇</m:t>
                  </m:r>
                </m:e>
                <m:sup>
                  <m:r>
                    <m:t xml:space="preserve">2</m:t>
                  </m:r>
                </m:sup>
              </m:sSup>
              <m:r>
                <m:t xml:space="preserve"> u</m:t>
              </m:r>
            </m:oMath>
          </m:oMathPara>
        </p:txBody>
      </p:sp>
    </p:spTree>
  </p:cSld>
  <p:clrMapOvr>
    <a:masterClrMapping/>
  </p:clrMapOvr>
</p:sld>
</file>

<file path=ppt/slides/slide4.xml><?xml version="1.0" encoding="utf-8"?>
<p:sld xmlns:m="http://schemas.openxmlformats.org/officeDocument/2006/math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Fundamental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On unbounded space the kernel is Gaussian.</a:t>
            </a:r>
          </a:p>
          <a:p>
            <a:pPr>
              <a:defRPr sz="2000"/>
            </a:pPr>
            <a:r>
              <a:t>n is the spatial dimension.</a:t>
            </a:r>
          </a:p>
          <a:p>
            <a:pPr>
              <a:defRPr sz="2000"/>
            </a:pPr>
            <a:r>
              <a:t>This formula should survive extraction as LaTeX.</a:t>
            </a:r>
          </a:p>
          <m:oMathPara>
            <m:oMathParaPr/>
            <m:oMath>
              <m:r>
                <m:t xml:space="preserve">u(x,t) = </m:t>
              </m:r>
              <m:sSup>
                <m:e>
                  <m:r>
                    <m:t xml:space="preserve">(4 π α t)</m:t>
                  </m:r>
                </m:e>
                <m:sup>
                  <m:r>
                    <m:t xml:space="preserve">-n/2</m:t>
                  </m:r>
                </m:sup>
              </m:sSup>
              <m:r>
                <m:t xml:space="preserve"> exp </m:t>
              </m:r>
              <m:r>
                <m:t xml:space="preserve">(</m:t>
              </m:r>
              <m:f>
                <m:num>
                  <m:r>
                    <m:t xml:space="preserve">-|x|^2</m:t>
                  </m:r>
                </m:num>
                <m:den>
                  <m:r>
                    <m:t xml:space="preserve">4 α t</m:t>
                  </m:r>
                </m:den>
              </m:f>
              <m:r>
                <m:t xml:space="preserve">)</m:t>
              </m:r>
            </m:oMath>
          </m:oMathPara>
        </p:txBody>
      </p:sp>
    </p:spTree>
  </p:cSld>
  <p:clrMapOvr>
    <a:masterClrMapping/>
  </p:clrMapOvr>
</p:sld>
</file>

<file path=ppt/slides/slide5.xml><?xml version="1.0" encoding="utf-8"?>
<p:sld xmlns:m="http://schemas.openxmlformats.org/officeDocument/2006/math"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Separation of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Assume u(x,t) = X(x)T(t) with Dirichlet boundaries.</a:t>
            </a:r>
          </a:p>
          <a:p>
            <a:pPr>
              <a:defRPr sz="2000"/>
            </a:pPr>
            <a:r>
              <a:t>The spatial problem is a Sturm-Liouville eigenvalue problem.</a:t>
            </a:r>
          </a:p>
          <a:p>
            <a:pPr>
              <a:defRPr sz="2000"/>
            </a:pPr>
            <a:r>
              <a:t>The time factors decay exponentially.</a:t>
            </a:r>
          </a:p>
          <m:oMathPara>
            <m:oMathParaPr/>
            <m:oMath>
              <m:sSup>
                <m:e>
                  <m:r>
                    <m:t xml:space="preserve">X</m:t>
                  </m:r>
                </m:e>
                <m:sup>
                  <m:r>
                    <m:t xml:space="preserve">''</m:t>
                  </m:r>
                </m:sup>
              </m:sSup>
              <m:r>
                <m:t xml:space="preserve"> + λ X = 0</m:t>
              </m:r>
            </m:oMath>
          </m:oMathPara>
          <m:oMathPara>
            <m:oMathParaPr/>
            <m:oMath>
              <m:r>
                <m:t xml:space="preserve">u(x,t) = </m:t>
              </m:r>
              <m:nary>
                <m:naryPr>
                  <m:chr m:val="∑"/>
                </m:naryPr>
                <m:sub>
                  <m:r>
                    <m:t xml:space="preserve">n=1</m:t>
                  </m:r>
                </m:sub>
                <m:sup>
                  <m:r>
                    <m:t xml:space="preserve">∞</m:t>
                  </m:r>
                </m:sup>
                <m:e>
                  <m:r>
                    <m:t xml:space="preserve"> a_n sin(n π x / L) exp(-α (n π / L)^2 t)</m:t>
                  </m:r>
                </m:e>
              </m:nary>
            </m:oMath>
          </m:oMathPara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